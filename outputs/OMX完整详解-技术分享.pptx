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330d25f55a42de" /><Relationship Type="http://schemas.openxmlformats.org/officeDocument/2006/relationships/extended-properties" Target="/docProps/app.xml" Id="Rca2ebeaa84b742bd" /><Relationship Type="http://schemas.openxmlformats.org/officeDocument/2006/relationships/officeDocument" Target="/ppt/presentation.xml" Id="R8deb9a37e99544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bec7c3b5544d42"/>
  </p:sldMasterIdLst>
  <p:notesMasterIdLst>
    <p:notesMasterId xmlns:r="http://schemas.openxmlformats.org/officeDocument/2006/relationships" r:id="R33c9dace4d944a41"/>
  </p:notesMasterIdLst>
  <p:sldIdLst>
    <p:sldId xmlns:r="http://schemas.openxmlformats.org/officeDocument/2006/relationships" id="256" r:id="R6c2f788d316f4cec"/>
    <p:sldId xmlns:r="http://schemas.openxmlformats.org/officeDocument/2006/relationships" id="257" r:id="R0d07731c4b9b4459"/>
    <p:sldId xmlns:r="http://schemas.openxmlformats.org/officeDocument/2006/relationships" id="258" r:id="R75aefb8c162c44ec"/>
    <p:sldId xmlns:r="http://schemas.openxmlformats.org/officeDocument/2006/relationships" id="259" r:id="R1f681b26b9e2485b"/>
    <p:sldId xmlns:r="http://schemas.openxmlformats.org/officeDocument/2006/relationships" id="260" r:id="R633357bcf8d148d4"/>
    <p:sldId xmlns:r="http://schemas.openxmlformats.org/officeDocument/2006/relationships" id="261" r:id="R78c6fe827abd4795"/>
    <p:sldId xmlns:r="http://schemas.openxmlformats.org/officeDocument/2006/relationships" id="262" r:id="Rfe25df23ece64046"/>
    <p:sldId xmlns:r="http://schemas.openxmlformats.org/officeDocument/2006/relationships" id="263" r:id="Rb1c90f8823204fb4"/>
    <p:sldId xmlns:r="http://schemas.openxmlformats.org/officeDocument/2006/relationships" id="264" r:id="R450bcff0b69842f1"/>
    <p:sldId xmlns:r="http://schemas.openxmlformats.org/officeDocument/2006/relationships" id="265" r:id="R0b450c99a5c74f09"/>
    <p:sldId xmlns:r="http://schemas.openxmlformats.org/officeDocument/2006/relationships" id="266" r:id="Re6a63374321a4d3e"/>
    <p:sldId xmlns:r="http://schemas.openxmlformats.org/officeDocument/2006/relationships" id="267" r:id="R4c7bc0ea7c694580"/>
    <p:sldId xmlns:r="http://schemas.openxmlformats.org/officeDocument/2006/relationships" id="268" r:id="R976c6f5c99d1447e"/>
    <p:sldId xmlns:r="http://schemas.openxmlformats.org/officeDocument/2006/relationships" id="269" r:id="Rf15c18a7615c4d0f"/>
    <p:sldId xmlns:r="http://schemas.openxmlformats.org/officeDocument/2006/relationships" id="270" r:id="Rfb355d8a29a24000"/>
    <p:sldId xmlns:r="http://schemas.openxmlformats.org/officeDocument/2006/relationships" id="271" r:id="R99ba4cda73d14d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f606ee64ff45e1" /><Relationship Type="http://schemas.openxmlformats.org/officeDocument/2006/relationships/slideMaster" Target="/ppt/slideMasters/slideMaster1.xml" Id="R46bec7c3b5544d42" /><Relationship Type="http://schemas.openxmlformats.org/officeDocument/2006/relationships/notesMaster" Target="/ppt/notesMasters/notesMaster1.xml" Id="R33c9dace4d944a41" /><Relationship Type="http://schemas.openxmlformats.org/officeDocument/2006/relationships/presProps" Target="/ppt/presProps.xml" Id="R44eee67370ec4d2e" /><Relationship Type="http://schemas.openxmlformats.org/officeDocument/2006/relationships/tableStyles" Target="/ppt/tableStyles.xml" Id="R2049bd1d114540b9" /><Relationship Type="http://schemas.openxmlformats.org/officeDocument/2006/relationships/slide" Target="/ppt/slides/slide1.xml" Id="R6c2f788d316f4cec" /><Relationship Type="http://schemas.openxmlformats.org/officeDocument/2006/relationships/slide" Target="/ppt/slides/slide2.xml" Id="R0d07731c4b9b4459" /><Relationship Type="http://schemas.openxmlformats.org/officeDocument/2006/relationships/slide" Target="/ppt/slides/slide3.xml" Id="R75aefb8c162c44ec" /><Relationship Type="http://schemas.openxmlformats.org/officeDocument/2006/relationships/slide" Target="/ppt/slides/slide4.xml" Id="R1f681b26b9e2485b" /><Relationship Type="http://schemas.openxmlformats.org/officeDocument/2006/relationships/slide" Target="/ppt/slides/slide5.xml" Id="R633357bcf8d148d4" /><Relationship Type="http://schemas.openxmlformats.org/officeDocument/2006/relationships/slide" Target="/ppt/slides/slide6.xml" Id="R78c6fe827abd4795" /><Relationship Type="http://schemas.openxmlformats.org/officeDocument/2006/relationships/slide" Target="/ppt/slides/slide7.xml" Id="Rfe25df23ece64046" /><Relationship Type="http://schemas.openxmlformats.org/officeDocument/2006/relationships/slide" Target="/ppt/slides/slide8.xml" Id="Rb1c90f8823204fb4" /><Relationship Type="http://schemas.openxmlformats.org/officeDocument/2006/relationships/slide" Target="/ppt/slides/slide9.xml" Id="R450bcff0b69842f1" /><Relationship Type="http://schemas.openxmlformats.org/officeDocument/2006/relationships/slide" Target="/ppt/slides/slide10.xml" Id="R0b450c99a5c74f09" /><Relationship Type="http://schemas.openxmlformats.org/officeDocument/2006/relationships/slide" Target="/ppt/slides/slide11.xml" Id="Re6a63374321a4d3e" /><Relationship Type="http://schemas.openxmlformats.org/officeDocument/2006/relationships/slide" Target="/ppt/slides/slide12.xml" Id="R4c7bc0ea7c694580" /><Relationship Type="http://schemas.openxmlformats.org/officeDocument/2006/relationships/slide" Target="/ppt/slides/slide13.xml" Id="R976c6f5c99d1447e" /><Relationship Type="http://schemas.openxmlformats.org/officeDocument/2006/relationships/slide" Target="/ppt/slides/slide14.xml" Id="Rf15c18a7615c4d0f" /><Relationship Type="http://schemas.openxmlformats.org/officeDocument/2006/relationships/slide" Target="/ppt/slides/slide15.xml" Id="Rfb355d8a29a24000" /><Relationship Type="http://schemas.openxmlformats.org/officeDocument/2006/relationships/slide" Target="/ppt/slides/slide16.xml" Id="R99ba4cda73d14d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89c349610e46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aa973775794313" /><Relationship Type="http://schemas.openxmlformats.org/officeDocument/2006/relationships/notesMaster" Target="/ppt/notesMasters/notesMaster1.xml" Id="Rae5d2eab072641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3ea0b42339438e" /><Relationship Type="http://schemas.openxmlformats.org/officeDocument/2006/relationships/notesMaster" Target="/ppt/notesMasters/notesMaster1.xml" Id="R32029285e7644c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5deab7000740a5" /><Relationship Type="http://schemas.openxmlformats.org/officeDocument/2006/relationships/notesMaster" Target="/ppt/notesMasters/notesMaster1.xml" Id="R4e79cffd3d1140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c7650a60c04c94" /><Relationship Type="http://schemas.openxmlformats.org/officeDocument/2006/relationships/notesMaster" Target="/ppt/notesMasters/notesMaster1.xml" Id="R70b774f8d1b646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49d83a2d424267" /><Relationship Type="http://schemas.openxmlformats.org/officeDocument/2006/relationships/notesMaster" Target="/ppt/notesMasters/notesMaster1.xml" Id="Rac3157759e354f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43d8181f6741e5" /><Relationship Type="http://schemas.openxmlformats.org/officeDocument/2006/relationships/notesMaster" Target="/ppt/notesMasters/notesMaster1.xml" Id="R7cc21a6bb6cb48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4fbb08da794468" /><Relationship Type="http://schemas.openxmlformats.org/officeDocument/2006/relationships/notesMaster" Target="/ppt/notesMasters/notesMaster1.xml" Id="Rab3a8d7eda6e46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18bb97dfd14c72" /><Relationship Type="http://schemas.openxmlformats.org/officeDocument/2006/relationships/notesMaster" Target="/ppt/notesMasters/notesMaster1.xml" Id="Ra848b46e81124c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5844a13ade4842" /><Relationship Type="http://schemas.openxmlformats.org/officeDocument/2006/relationships/notesMaster" Target="/ppt/notesMasters/notesMaster1.xml" Id="R4478a8d4bacf42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4b15e499784554" /><Relationship Type="http://schemas.openxmlformats.org/officeDocument/2006/relationships/notesMaster" Target="/ppt/notesMasters/notesMaster1.xml" Id="Rc00f520168c245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00d6b9499b4140" /><Relationship Type="http://schemas.openxmlformats.org/officeDocument/2006/relationships/notesMaster" Target="/ppt/notesMasters/notesMaster1.xml" Id="R46ef6e4cea7a41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09e64761ee4a24" /><Relationship Type="http://schemas.openxmlformats.org/officeDocument/2006/relationships/notesMaster" Target="/ppt/notesMasters/notesMaster1.xml" Id="R0ec58bb6dfa744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574832ff1d454e" /><Relationship Type="http://schemas.openxmlformats.org/officeDocument/2006/relationships/notesMaster" Target="/ppt/notesMasters/notesMaster1.xml" Id="R48cb028b723c4f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7e343c19ec4d55" /><Relationship Type="http://schemas.openxmlformats.org/officeDocument/2006/relationships/notesMaster" Target="/ppt/notesMasters/notesMaster1.xml" Id="Rfb9697bc522743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2a68b03e184898" /><Relationship Type="http://schemas.openxmlformats.org/officeDocument/2006/relationships/notesMaster" Target="/ppt/notesMasters/notesMaster1.xml" Id="R61a14e88ba814a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46866d10a54e82" /><Relationship Type="http://schemas.openxmlformats.org/officeDocument/2006/relationships/notesMaster" Target="/ppt/notesMasters/notesMaster1.xml" Id="R8aac89e344de45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开场问题：当一次 Codex 会话从改一个函数，变成澄清需求、评审方案、并行实现、验证交付时，真正缺少的通常不是模型能力，而是工作组织方式。</a:t>
            </a:r>
          </a:p>
          <a:p xmlns:a="http://schemas.openxmlformats.org/drawingml/2006/main">
            <a:r>
              <a:t>本分享以本机安装的 oh-my-codex v0.20.2 为事实基线。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不要把问题描述成 Codex 不够强。这些是复杂工程任务天然需要的控制面。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纠正分类偏差：OMX 不是另一个模型、IDE 或代码生成器。Codex 仍负责实际 agent work。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把机制与能力分开讲：AGENTS 提供规范，Skills 提供流程，Hooks 与状态提供连续性，Runtime 提供持久并行。</a:t>
            </a:r>
          </a:p>
          <a:p xmlns:a="http://schemas.openxmlformats.org/drawingml/2006/main">
            <a:r>
              <a:t>代码理解通常来自按需仓库检查；可选 CodeGraph 不等于 OMX 启动时自动全量建图。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这是复杂任务的推荐主线，而不是全局不可跳过状态机。小型、边界清楚的任务可以直接执行。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 是显式路由。不要为了显得强大而同时加载全部能力；通常只加载 2–5 个相关 Skill。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小型、会话内的独立分工优先使用 Codex native subagents。</a:t>
            </a:r>
          </a:p>
          <a:p xmlns:a="http://schemas.openxmlformats.org/drawingml/2006/main">
            <a:r>
              <a:t>Team 用于需要持久 tmux、任务状态、邮箱、worktree 和生命周期控制的场景。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这是需要主动纠正的夸大：worktree 隔离编辑面，但共享文件、跨模块契约和最后集成仍可能冲突。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可恢复来自持久任务、邮箱、状态与 tmux 运行时；这不等于业务操作自动回滚。关闭 Team 前必须先确认任务终态。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不要现场选择会触碰同一个核心文件的三个任务。演示重点是任务分解、状态转换和证据，而不是炫耀并发 pane 数量。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omx doctor 检查安装形态和本地运行时；它不证明模型请求一定能成功。生产前应增加真实 smoke test。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--madmax 会绕过审批和沙箱，只能作为明确知情的高风险选择；基础演示不应默认开启。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不要给出没有基准数据支持的效率提升 N 倍。收益依赖任务拆分质量、仓库测试能力和团队规则。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 是可选兼容模式，不是默认常驻的五服务架构。</a:t>
            </a:r>
          </a:p>
          <a:p xmlns:a="http://schemas.openxmlformats.org/drawingml/2006/main">
            <a:r>
              <a:t>CodeGraph 可被 OMX 解析，但 OMX 不负责安装、自动索引或复制数据库。</a:t>
            </a:r>
          </a:p>
          <a:p xmlns:a="http://schemas.openxmlformats.org/drawingml/2006/main">
            <a:r>
              <a:t>当前 Team worker CLI 文档支持 auto/codex/claude；Gemini 更适合作为 ask 顾问产物，不应描述为已文档化的 Team worker。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避免使用 Cursor/Claude Code 是黑盒、不能编排或完全没有流程等绝对化表述。这里比较的是主要工作层与使用重心。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回扣开场：复杂任务的控制面问题，应通过一次可测量的真实试点验证，而不是凭功能清单决策。</a:t>
            </a:r>
          </a:p>
          <a:p xmlns:a="http://schemas.openxmlformats.org/drawingml/2006/main">
            <a:r>
              <a:t>建议总时长约 25 分钟，另留 5–10 分钟问答。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f0a181b9c14d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7c4a82c5894851" /><Relationship Type="http://schemas.openxmlformats.org/officeDocument/2006/relationships/slideLayout" Target="/ppt/slideLayouts/slideLayout1.xml" Id="R0396e79cdfad41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96e79cdfad41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fe3423b294411" /><Relationship Type="http://schemas.openxmlformats.org/officeDocument/2006/relationships/notesSlide" Target="/ppt/notesSlides/notesSlide1.xml" Id="R3c10fd13c3ab4a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2748940694085" /><Relationship Type="http://schemas.openxmlformats.org/officeDocument/2006/relationships/notesSlide" Target="/ppt/notesSlides/notesSlide2.xml" Id="Rdf453fc31c3a47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bd03434c14963" /><Relationship Type="http://schemas.openxmlformats.org/officeDocument/2006/relationships/notesSlide" Target="/ppt/notesSlides/notesSlide3.xml" Id="Re976e2cff4bc47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7c3eaa58b4d5d" /><Relationship Type="http://schemas.openxmlformats.org/officeDocument/2006/relationships/notesSlide" Target="/ppt/notesSlides/notesSlide4.xml" Id="Rda2a67f7482141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2db16baa34b93" /><Relationship Type="http://schemas.openxmlformats.org/officeDocument/2006/relationships/notesSlide" Target="/ppt/notesSlides/notesSlide5.xml" Id="Ra4a24cf5b52f4a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6d423779044a6" /><Relationship Type="http://schemas.openxmlformats.org/officeDocument/2006/relationships/notesSlide" Target="/ppt/notesSlides/notesSlide6.xml" Id="Ra5f5f6a1a40749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5d47f96704332" /><Relationship Type="http://schemas.openxmlformats.org/officeDocument/2006/relationships/notesSlide" Target="/ppt/notesSlides/notesSlide7.xml" Id="R9084547d4e9344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e32673cee4ce8" /><Relationship Type="http://schemas.openxmlformats.org/officeDocument/2006/relationships/notesSlide" Target="/ppt/notesSlides/notesSlide8.xml" Id="R0a409da2586645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23e8df5cd44ab" /><Relationship Type="http://schemas.openxmlformats.org/officeDocument/2006/relationships/notesSlide" Target="/ppt/notesSlides/notesSlide9.xml" Id="R41a405d31ae143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44357d0324d7c" /><Relationship Type="http://schemas.openxmlformats.org/officeDocument/2006/relationships/notesSlide" Target="/ppt/notesSlides/notesSlide10.xml" Id="R1533dd5880624a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a5684bce24b6c" /><Relationship Type="http://schemas.openxmlformats.org/officeDocument/2006/relationships/notesSlide" Target="/ppt/notesSlides/notesSlide11.xml" Id="R7e753dc0fbb34d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8873b33f74776" /><Relationship Type="http://schemas.openxmlformats.org/officeDocument/2006/relationships/notesSlide" Target="/ppt/notesSlides/notesSlide12.xml" Id="R4d62eb95d9e04b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120ffcfbc48a7" /><Relationship Type="http://schemas.openxmlformats.org/officeDocument/2006/relationships/notesSlide" Target="/ppt/notesSlides/notesSlide13.xml" Id="R250a4cbe002a44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93c342cb64ab2" /><Relationship Type="http://schemas.openxmlformats.org/officeDocument/2006/relationships/notesSlide" Target="/ppt/notesSlides/notesSlide14.xml" Id="R8a4ec8de3bb444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0b244b0a640dd" /><Relationship Type="http://schemas.openxmlformats.org/officeDocument/2006/relationships/notesSlide" Target="/ppt/notesSlides/notesSlide15.xml" Id="R6caf2b36d3f34b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92db4495c48ed" /><Relationship Type="http://schemas.openxmlformats.org/officeDocument/2006/relationships/notesSlide" Target="/ppt/notesSlides/notesSlide16.xml" Id="R6fda5eb47c1842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9FC9C-F1D2-44F4-A380-4278E7C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4E6EF-C859-40DC-A0D9-C6E6985B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OH-MY-CODEX · v0.20.2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08A69-F40A-490E-8D17-D6801675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478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OMX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9D9B2-0A7D-44C1-96C5-3980346C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876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给 Codex 加上一套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可执行的工程工作流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003DB-4E71-48CF-8B51-0E24FD13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定位 · 架构 · Workflow · Team Runtime · 实操 · 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4A998-D75A-41E3-B28E-842C28FA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62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面向软件工程师与技术负责人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F209B-FC7A-4DDA-A240-994F4120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9600"/>
            <a:ext cx="1409700" cy="14097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FAFCE-81DC-4F7C-AEBC-58753429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819150"/>
            <a:ext cx="1009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650" b="1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465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&gt;_</a:t>
            </a:r>
          </a:p>
        </p:txBody>
      </p:sp>
    </p:spTree>
    <p:extLst>
      <p:ext uri="{BB962C8B-B14F-4D97-AF65-F5344CB8AC3E}">
        <p14:creationId xmlns:p14="http://schemas.microsoft.com/office/powerpoint/2010/main" val="1319030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EA7565-4493-439F-A053-E8D72187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OH-MY-CODEX / TECHNICAL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8A92B-34BA-4118-9A36-B43C6FC0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复杂任务的瓶颈，常常是上下文和执行纪律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0AF7D-BB10-4D20-91EA-52C33200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95FF9-AF5F-4CFE-B94A-BE9E63D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47597-6B02-4B01-9A9E-ACDB6007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B2E23-4275-43D3-860D-76F82C79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边界失真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1A4A0-B528-4146-8F99-F1674827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4667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需求边界未锁定，模型可能快速推进到错误答案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107C9-CD5C-4375-A539-E483605A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9F7CC-9DC7-4135-851E-B32D60E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81745-D69D-475C-83F5-23D6F670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阶段混杂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2CB11-4A1A-4098-9EAC-9E788A11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4667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计划、实现、验证混在一起，难以审查完成度。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56D12-291B-44E2-B989-1F5E56CB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53A13-EF5A-4531-AB79-BACD9960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80B8B-C1C9-4B5C-9E41-D897975B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671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状态漂移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511A0-EEFC-4EAC-A340-19183E77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00525"/>
            <a:ext cx="4667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长任务跨回合后，目标、证据和未完成项容易丢失。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F261E-9BCD-419E-88E2-7D7DB344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01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F451D-DB4C-438E-948D-BCBA6B1A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A8DC7-86F7-4973-A00B-9EAAC6C5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671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并行失控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14B10-14A7-4D14-83AD-EBF3FBBE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00525"/>
            <a:ext cx="4667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没有所有权与交接协议，多 Agent 只会放大冲突。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497B1-7906-406E-A370-41EB0577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01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85FF0-9372-45EA-883A-284216A2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更强的单次回答，不能自动带来更可靠的工程交付。</a:t>
            </a:r>
          </a:p>
        </p:txBody>
      </p:sp>
    </p:spTree>
    <p:extLst>
      <p:ext uri="{BB962C8B-B14F-4D97-AF65-F5344CB8AC3E}">
        <p14:creationId xmlns:p14="http://schemas.microsoft.com/office/powerpoint/2010/main" val="20171386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965C6-7DD2-4EB7-A2D8-D4174611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OH-MY-CODEX / TECHNICAL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7C974-3D02-4B63-89FD-119BA91C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OMX 不替代 Codex，它负责组织 Codex 的工作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B9FA8-0803-4C29-990C-EEF3B5DE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47EAA-AC9E-4C92-8692-E104D4F1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141B9-41DF-4F69-A248-4226A722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00375"/>
            <a:ext cx="1095375" cy="704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9D4D1-E5AA-42C9-A23B-69FC6DCE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476750" cy="2952750"/>
          </a:xfrm>
          <a:prstGeom xmlns:a="http://schemas.openxmlformats.org/drawingml/2006/main" prst="roundRect">
            <a:avLst>
              <a:gd name="adj" fmla="val 129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B447A-B204-4912-AD9F-ABE2842D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4476750" cy="2952750"/>
          </a:xfrm>
          <a:prstGeom xmlns:a="http://schemas.openxmlformats.org/drawingml/2006/main" prst="roundRect">
            <a:avLst>
              <a:gd name="adj" fmla="val 1290"/>
            </a:avLst>
          </a:prstGeom>
          <a:solidFill xmlns:a="http://schemas.openxmlformats.org/drawingml/2006/main">
            <a:srgbClr val="DF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F5D06-F0D6-471F-A510-5DB4A264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CODEX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2E3D7-1F9F-4C00-AC25-78F5E6FC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执行引擎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C5C34-F463-43AA-A63A-2B082FFD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模型推理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工具调用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代码编辑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命令执行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9C988-9DA0-42C1-8C85-59491A58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OMX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B0FAF-0ED1-4EAF-9033-BB09FF35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19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编排与运行层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706F0-9B85-4F81-AC11-3224FDF3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3619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AGENTS 指导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Skills 工作流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Hooks 生命周期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状态与 Team 协调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4DFDD-6E4F-4C5A-8116-6CED9F5D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模型仍然做决定和执行；OMX 让“如何工作”更明确、更持久、更可检查。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39C26-B390-4ED3-8238-19767516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事实基线：oh-my-codex v0.20.2 README / A simple mental model</a:t>
            </a:r>
          </a:p>
        </p:txBody>
      </p:sp>
    </p:spTree>
    <p:extLst>
      <p:ext uri="{BB962C8B-B14F-4D97-AF65-F5344CB8AC3E}">
        <p14:creationId xmlns:p14="http://schemas.microsoft.com/office/powerpoint/2010/main" val="73875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08D01-5F03-41CB-BD9F-40338AF3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OH-MY-CODEX / TECHNICAL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4987E-4CF7-4AF2-BB99-E9E07AC0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四类机制共同构成 OMX 的工程运行层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8D46D-2322-458E-9D2A-50DE96F8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E7064-49BE-4CC5-8A0F-35163C88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C2A9D-4A8F-40D0-BFD8-25D61826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DF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48650-2E76-4E74-A358-CF902751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GUIDANCE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BBA9C-DA42-470B-A88B-28F94057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764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AGENTS.md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3B039-FB0C-46EB-834C-46523950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859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固化项目规范、角色边界、风险与验证要求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7B365-F0C2-49A7-8567-EF1A0312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113919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4A1B3-216E-41DA-A41F-B3C49A76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77099-B6A2-4B13-9351-C2D4C704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765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Skills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0D828-9DD9-4D47-942B-7CEFCF26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86075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把澄清、规划、执行、评审、QA 变成可调用流程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1FFB7-3A1B-41F6-88BF-05E06466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113919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D79AC-824F-4BA8-AB99-A03E8FDA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LIFECYCLE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0EB49-5927-4905-9FC5-D4D04E6A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7667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Hooks + .omx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213A2-B297-4E9E-B654-D03388C3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862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承接会话阶段、目标、检查点、事件和恢复上下文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2879DE-B0CB-412B-A8C0-692D396D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52975"/>
            <a:ext cx="113919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B6340-5FC2-4F09-8623-7369416C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1DE79-A516-42E0-8668-C2E2FB44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768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9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tmux + worktree + Team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97CAB5-8AE8-41AD-8893-D5B6727F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86325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为持久并行、隔离编辑和协作状态提供运行面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592CA4-3EDD-4C14-B7B3-8BB0F837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单个 Skill 不是 OMX；规范、流程、生命周期与运行时组合后，才形成完整工作方式。</a:t>
            </a:r>
          </a:p>
        </p:txBody>
      </p:sp>
    </p:spTree>
    <p:extLst>
      <p:ext uri="{BB962C8B-B14F-4D97-AF65-F5344CB8AC3E}">
        <p14:creationId xmlns:p14="http://schemas.microsoft.com/office/powerpoint/2010/main" val="11834876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12999B-6BCA-4942-B654-23D38816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OH-MY-CODEX / TECHNICAL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07D94-0E42-4565-97D0-80A6FCAA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推荐主线先消除三类风险：歧义、方案缺口、执行漂移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C2B50-D2AD-47A3-9446-D932E624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3AE69-7E95-4473-8DBE-B7C575CB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33E2B-7DB2-4BC8-9F6B-60E3F893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6BF12-F49F-40BD-B028-7C6841E8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81DA5-E0EF-4E33-A7E3-397966F9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AMBIGUITY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1CB1F-13D3-4DEB-A38D-7FBB2800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3D8DFF"/>
                </a:solidFill>
                <a:latin typeface="SF Mono"/>
                <a:ea typeface="SF Mono"/>
                <a:cs typeface="SF Mono"/>
              </a:defRPr>
            </a:pPr>
            <a:r>
              <a:rPr sz="2175" b="1">
                <a:solidFill>
                  <a:srgbClr val="3D8DFF"/>
                </a:solidFill>
                <a:latin typeface="SF Mono"/>
                <a:ea typeface="SF Mono"/>
                <a:cs typeface="SF Mono"/>
              </a:rPr>
              <a:t>$deep-interview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06E6C-F421-4CFA-AF0E-5F093CBA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锁定意图、边界、非目标与验收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2028D-2B77-4845-B1D9-CA3400CE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DD434-2B82-49E7-8E38-93B475AA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DESIGN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38A26-2EBE-4DBA-8D34-1BBA635F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766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3D8DFF"/>
                </a:solidFill>
                <a:latin typeface="SF Mono"/>
                <a:ea typeface="SF Mono"/>
                <a:cs typeface="SF Mono"/>
              </a:defRPr>
            </a:pPr>
            <a:r>
              <a:rPr sz="2175" b="1">
                <a:solidFill>
                  <a:srgbClr val="3D8DFF"/>
                </a:solidFill>
                <a:latin typeface="SF Mono"/>
                <a:ea typeface="SF Mono"/>
                <a:cs typeface="SF Mono"/>
              </a:rPr>
              <a:t>$ralplan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F2415-3ED9-4FB9-9BC2-65F0208B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481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形成可评审的计划与权衡；只规划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157CC-DFCE-4DCF-9F19-CDC5375A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32FF1-53A9-467C-8AB8-F55A79CE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EXECUTION DRIFT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68A3D-510A-4551-B3B3-6C1F9DFB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3D8DFF"/>
                </a:solidFill>
                <a:latin typeface="SF Mono"/>
                <a:ea typeface="SF Mono"/>
                <a:cs typeface="SF Mono"/>
              </a:defRPr>
            </a:pPr>
            <a:r>
              <a:rPr sz="2175" b="1">
                <a:solidFill>
                  <a:srgbClr val="3D8DFF"/>
                </a:solidFill>
                <a:latin typeface="SF Mono"/>
                <a:ea typeface="SF Mono"/>
                <a:cs typeface="SF Mono"/>
              </a:rPr>
              <a:t>$ultragoal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61D19-F521-4D74-B0BD-E5AD9A13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把批准方案转成持久目标与检查点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09760D-87F8-4B5E-8351-46C3E6B0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57850"/>
            <a:ext cx="57912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7D57D-1D7C-4526-8DE2-4D5363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57850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推荐默认路径，不是所有小任务的强制流水线</a:t>
            </a:r>
          </a:p>
        </p:txBody>
      </p:sp>
    </p:spTree>
    <p:extLst>
      <p:ext uri="{BB962C8B-B14F-4D97-AF65-F5344CB8AC3E}">
        <p14:creationId xmlns:p14="http://schemas.microsoft.com/office/powerpoint/2010/main" val="1801117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20F75-2BF9-4A38-86A5-1F5E56B5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OH-MY-CODEX / TECHNICAL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105CA-8ECE-4F37-B10E-921173D1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按任务形状选择执行脊柱，而不是堆叠所有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1CE3B-1D74-4A7F-937E-1A1D29DC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8A30A-0A88-4D8D-8E43-1D238FE7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9083A-2441-4A2F-A41A-F211688D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42925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DF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87582-1290-4FD5-B11C-DA731418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2100" b="1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$ultragoal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652F8-7CE5-40A7-BE52-D95B4D13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持久多目标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BDADD-B0DA-40CE-9E81-36FF1645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003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批准方案后按顺序交付；需要 ledger 与检查点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4F372-8E62-450E-AB1C-A3C67FF7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42925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255C0-3E99-45C3-977A-B8DEFA7E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2100" b="1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$ralph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1015D-829A-49C1-85BC-B93B8ED8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单一负责人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3F050-1DA7-496C-AFED-F90F9935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持续实现—验证—修复；适合明确且必须坚持到底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0AAAC-972B-47BC-B8EA-059C0111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542925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A8848-5BAA-42FF-B26B-76D1F33F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2100" b="1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$team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19A13-CDE7-4673-9B8C-6AE6D7ED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持久并行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F62F9-4FC3-4FD7-9A2A-E9EB4879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815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需要 tmux / state / worktree / mailbox 的协作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63E17-6265-451C-A47F-731675CF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542925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88B29-60E4-476C-8E62-AF70576E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2100" b="1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$autopilot / $ultrawork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AD4E5-93DC-41D4-9819-5762BF9E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监督或吞吐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B98C2-B7AE-49C0-A63F-A96BED5A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815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完整监督流程，或明确拆分后的高吞吐执行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FDF63-1DE3-4775-8ED4-2AEFDA97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先问“任务需要什么控制结构”，再选择 Skill。</a:t>
            </a:r>
          </a:p>
        </p:txBody>
      </p:sp>
    </p:spTree>
    <p:extLst>
      <p:ext uri="{BB962C8B-B14F-4D97-AF65-F5344CB8AC3E}">
        <p14:creationId xmlns:p14="http://schemas.microsoft.com/office/powerpoint/2010/main" val="11757831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831A7-ED0B-4BFF-9527-ACD315E0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OH-MY-CODEX / TECHNICAL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DE407-E974-491D-A193-1B43ADED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Team 的价值不是多开 Agent，而是建立协作协议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FFDA4-36B7-49F7-A028-1E22D152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98A35-461D-4E09-82EE-0D00A5A5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B45AF-DF6C-462B-A45A-271C2408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2382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A99D6-6532-46EA-9B31-928A335E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67100"/>
            <a:ext cx="12382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C1634-EBE2-47F3-90D8-EF5002EF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52950"/>
            <a:ext cx="12382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B34B8-898B-47BC-950C-24CADF93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2857500" cy="219075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BA81B-8C32-40C4-AC3E-6B08F2BF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LEADER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7DE73-EDDB-4E5A-9F10-A7ABB330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650" b="0">
                <a:solidFill>
                  <a:srgbClr val="DCE1E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CE1E7"/>
                </a:solidFill>
                <a:latin typeface="PingFang SC"/>
                <a:ea typeface="PingFang SC"/>
                <a:cs typeface="PingFang SC"/>
              </a:rPr>
              <a:t>拆分 · 所有权 · 整合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650" b="0">
                <a:solidFill>
                  <a:srgbClr val="DCE1E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CE1E7"/>
                </a:solidFill>
                <a:latin typeface="PingFang SC"/>
                <a:ea typeface="PingFang SC"/>
                <a:cs typeface="PingFang SC"/>
              </a:rPr>
              <a:t>最终验证与停机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3990C-8403-4176-AEE4-5059EA0A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38350"/>
            <a:ext cx="323850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7435A-2DFB-436E-B2F4-C2F4D086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WORKER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C8BD5-0313-4240-B72A-2915974B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D647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5D6470"/>
                </a:solidFill>
                <a:latin typeface="SF Mono"/>
                <a:ea typeface="SF Mono"/>
                <a:cs typeface="SF Mono"/>
              </a:rPr>
              <a:t>claim → work → 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D702B-95E5-4BE9-9B53-172D9879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24200"/>
            <a:ext cx="323850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719BA-AF8C-48D9-BAE1-A9535700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WORKER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835B1-F213-4C49-90A5-F4E1A426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D647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5D6470"/>
                </a:solidFill>
                <a:latin typeface="SF Mono"/>
                <a:ea typeface="SF Mono"/>
                <a:cs typeface="SF Mono"/>
              </a:rPr>
              <a:t>claim → work →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20EC8-E394-4AF8-8B3D-86910083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10050"/>
            <a:ext cx="323850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95951B-3762-4370-B483-53BBD6B0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624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WORKER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CD72D-E0FC-4670-B15C-D3357316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624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D647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5D6470"/>
                </a:solidFill>
                <a:latin typeface="SF Mono"/>
                <a:ea typeface="SF Mono"/>
                <a:cs typeface="SF Mono"/>
              </a:rPr>
              <a:t>claim → work → 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76E7D-876A-4092-9EC1-B463E7EF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38350"/>
            <a:ext cx="2724150" cy="3048000"/>
          </a:xfrm>
          <a:prstGeom xmlns:a="http://schemas.openxmlformats.org/drawingml/2006/main" prst="roundRect">
            <a:avLst>
              <a:gd name="adj" fmla="val 1399"/>
            </a:avLst>
          </a:prstGeom>
          <a:solidFill xmlns:a="http://schemas.openxmlformats.org/drawingml/2006/main">
            <a:srgbClr val="DF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3A9A7-BD0C-4D34-9F1C-F809FAEF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8600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TEAM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FD24F-31C5-4614-8922-661412CA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33700"/>
            <a:ext cx="1600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7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725" b="0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tasks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725" b="0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inbox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725" b="0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mailbox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725" b="0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heartbeats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725" b="0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events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725" b="0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lifecycle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BA9D9C-4948-45D9-903E-6CB61672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578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并行效率来自边界清楚和闭环交接，不来自 Agent 数量本身。</a:t>
            </a:r>
          </a:p>
        </p:txBody>
      </p:sp>
    </p:spTree>
    <p:extLst>
      <p:ext uri="{BB962C8B-B14F-4D97-AF65-F5344CB8AC3E}">
        <p14:creationId xmlns:p14="http://schemas.microsoft.com/office/powerpoint/2010/main" val="4427805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72C715-08B7-48A8-8DB8-4E2EAE3B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OH-MY-CODEX / TECHNICAL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1A2EF-2694-4C27-BC6B-4BEA0867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每个 Team Worker 默认拥有独立 worktree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EF54C-9F84-4304-8875-012F4F65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C78FF-ACF8-4BEF-9C33-EE279259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3A704-95B2-4ADD-8771-AE10CC8C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9800"/>
            <a:ext cx="1238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3A043-9B69-424B-A768-09D4D20C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1238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D3036-40E0-404A-A4F6-39F29051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43400"/>
            <a:ext cx="1238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1B975-6D24-4510-9435-2DB323F2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09800"/>
            <a:ext cx="1238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323BD-7492-445C-8826-8AFE09F7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76600"/>
            <a:ext cx="1238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5FC1D-5E50-485E-BCC5-361CA8B8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43400"/>
            <a:ext cx="1238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ED1C7-352E-4F03-B5AC-B71C66D2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2286000" cy="11811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23140-417E-4EF7-A176-22648E4F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REPO / LEADER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C260F-1504-427B-9B7F-5672C2B7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CED4DB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CED4DB"/>
                </a:solidFill>
                <a:latin typeface="SF Mono"/>
                <a:ea typeface="SF Mono"/>
                <a:cs typeface="SF Mono"/>
              </a:rPr>
              <a:t>integration 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B6650-ACA8-4B0C-8BEC-FC8EE6DC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33528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9DB48-887D-4E6F-B1E6-7CD29F91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650" b="1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worker-1 worktree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18912-B080-496F-9D5F-B24C89C3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D6470"/>
                </a:solidFill>
                <a:latin typeface="SF Mono"/>
                <a:ea typeface="SF Mono"/>
                <a:cs typeface="SF Mono"/>
              </a:defRPr>
            </a:pPr>
            <a:r>
              <a:rPr sz="1125" b="0">
                <a:solidFill>
                  <a:srgbClr val="5D6470"/>
                </a:solidFill>
                <a:latin typeface="SF Mono"/>
                <a:ea typeface="SF Mono"/>
                <a:cs typeface="SF Mono"/>
              </a:rPr>
              <a:t>isolated checkout + commit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5360A-9804-4401-8278-72A7D3AC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05150"/>
            <a:ext cx="33528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F804F-BC3F-45D5-B4D2-7D4D8D8A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650" b="1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worker-2 worktree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08124D-F66F-443E-A8C4-36DF6397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D6470"/>
                </a:solidFill>
                <a:latin typeface="SF Mono"/>
                <a:ea typeface="SF Mono"/>
                <a:cs typeface="SF Mono"/>
              </a:defRPr>
            </a:pPr>
            <a:r>
              <a:rPr sz="1125" b="0">
                <a:solidFill>
                  <a:srgbClr val="5D6470"/>
                </a:solidFill>
                <a:latin typeface="SF Mono"/>
                <a:ea typeface="SF Mono"/>
                <a:cs typeface="SF Mono"/>
              </a:rPr>
              <a:t>isolated checkout + commit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F3E4B-C0D4-423F-940D-EA4DF734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71950"/>
            <a:ext cx="33528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389AEA-D6BA-4651-80BF-D13AD7BC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434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650" b="1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worker-3 worktree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8D808-56B7-4717-8DA0-90388BEF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48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D6470"/>
                </a:solidFill>
                <a:latin typeface="SF Mono"/>
                <a:ea typeface="SF Mono"/>
                <a:cs typeface="SF Mono"/>
              </a:defRPr>
            </a:pPr>
            <a:r>
              <a:rPr sz="1125" b="0">
                <a:solidFill>
                  <a:srgbClr val="5D6470"/>
                </a:solidFill>
                <a:latin typeface="SF Mono"/>
                <a:ea typeface="SF Mono"/>
                <a:cs typeface="SF Mono"/>
              </a:rPr>
              <a:t>isolated checkout + commit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71D688-C494-48CB-93A4-25A3D16E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66700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DF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3D0CE-21A6-4C6C-93DC-078D3DFA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908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INTEGRATION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60E6B3-F9CD-4E1A-BF08-170C1A2E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425" b="0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review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425" b="0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merge / conflict handling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425" b="0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regression 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634FE5-32C0-45CB-9923-035F2324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43550"/>
            <a:ext cx="71247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6DAE1A-BA53-4D7C-8EBA-22EE2650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43550"/>
            <a:ext cx="712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A868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86800"/>
                </a:solidFill>
                <a:latin typeface="PingFang SC"/>
                <a:ea typeface="PingFang SC"/>
                <a:cs typeface="PingFang SC"/>
              </a:rPr>
              <a:t>独立 worktree 降低冲突概率，但不保证自动无冲突合并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D4FB0C-A551-450B-9DCA-40151498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来源：本机 v0.20.2 README / Team runtime；omx team --help</a:t>
            </a:r>
          </a:p>
        </p:txBody>
      </p:sp>
    </p:spTree>
    <p:extLst>
      <p:ext uri="{BB962C8B-B14F-4D97-AF65-F5344CB8AC3E}">
        <p14:creationId xmlns:p14="http://schemas.microsoft.com/office/powerpoint/2010/main" val="20869668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654088-ADEA-4854-A8B3-74A93FF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OH-MY-CODEX / TECHNICAL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8248F-63E1-4313-9ABD-61179807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一次 Team 任务的生命周期可被观察和恢复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C4924-13A5-4550-A177-F56A518B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FE270-873A-4A2A-963B-EA419835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1C259-A83F-432F-B8EA-F0F20267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885AF-5562-44A3-BD51-D69DCB84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FF2D4-F8FB-47FC-AE45-3BA856CA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C22A3-8DEA-486E-8AE7-DBD6CE3D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CREATE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B9F99-565A-47D7-ABCF-9E5B5984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D647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5D6470"/>
                </a:solidFill>
                <a:latin typeface="SF Mono"/>
                <a:ea typeface="SF Mono"/>
                <a:cs typeface="SF Mono"/>
              </a:rPr>
              <a:t>subject / owner / deps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F50D8-B13B-4594-89DB-E7DADDE2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F6383-DDD7-4156-9815-7516B0C8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52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9242A-70A0-42BB-95C8-3532FA5E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43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E8847-C68E-4EFA-B06F-EC3AC1AA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D647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5D6470"/>
                </a:solidFill>
                <a:latin typeface="SF Mono"/>
                <a:ea typeface="SF Mono"/>
                <a:cs typeface="SF Mono"/>
              </a:rPr>
              <a:t>lease + in_progress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AF6CD-085C-4738-B759-88487EB7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83E83-1A25-4E78-A15D-54B6B297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52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6377F-46EB-4F66-9216-D508DA93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43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EXECUTE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EDF55-9AA6-4237-8700-773ACEEE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D647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5D6470"/>
                </a:solidFill>
                <a:latin typeface="SF Mono"/>
                <a:ea typeface="SF Mono"/>
                <a:cs typeface="SF Mono"/>
              </a:rPr>
              <a:t>bounded edit + 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24071-3506-4605-AFF5-0605E2EA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35CCC4-4CDF-4C81-B20E-7E0136B1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52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16026-AF75-4BBB-9509-4ACA70FA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43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HANDOFF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4D6EE-71EF-4C73-A2E5-C79FDF38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D647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5D6470"/>
                </a:solidFill>
                <a:latin typeface="SF Mono"/>
                <a:ea typeface="SF Mono"/>
                <a:cs typeface="SF Mono"/>
              </a:rPr>
              <a:t>mailbox +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86F601-77CB-4E37-8999-38618457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3AD9FB-6922-4286-B6DF-325B6F0F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52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E36A9-5E23-4342-ABB6-C84F1F43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43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111111"/>
                </a:solidFill>
                <a:latin typeface="SF Mono"/>
                <a:ea typeface="SF Mono"/>
                <a:cs typeface="SF Mono"/>
              </a:rPr>
              <a:t>TRANSITION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A95B85-A2A3-4779-9371-FC280A29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D647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5D6470"/>
                </a:solidFill>
                <a:latin typeface="SF Mono"/>
                <a:ea typeface="SF Mono"/>
                <a:cs typeface="SF Mono"/>
              </a:rPr>
              <a:t>completed / failed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F61D2D-29D8-460C-BA40-5918C168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971550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D37A05-0DAF-4F4A-A5E9-6FDFDD39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62987-F144-4626-AF56-BBF494CA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9296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omx team status &lt;team-name&gt;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omx team resume &lt;team-name&gt;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omx team shutdown &lt;team-name&gt;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2FD54A-CCB1-404E-BA2B-C8752F46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关机门槛：pending = 0 · in_progress = 0 · failed = 0（或明确处理失败路径）</a:t>
            </a:r>
          </a:p>
        </p:txBody>
      </p:sp>
    </p:spTree>
    <p:extLst>
      <p:ext uri="{BB962C8B-B14F-4D97-AF65-F5344CB8AC3E}">
        <p14:creationId xmlns:p14="http://schemas.microsoft.com/office/powerpoint/2010/main" val="19000691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45F13-4F5F-410C-8499-687AF47E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OH-MY-CODEX / TECHNICAL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9A107-4833-4B29-9F56-15770E56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三分钟演示：从任务描述到三条并行验证链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212AF-17C6-4DCB-AD47-15CF73CC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31E29-F308-400D-B87F-F5E6962A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BFCF5-1786-44E7-9EC5-6F8CEE85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D31BD-C761-4934-A2E2-CDC5E778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667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D0495-4023-45ED-93F9-7C2C30DD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586740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omx team 3:executor \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  "修复失败测试：分别定位、实现、验证，\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   并汇总证据"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omx team status &lt;team-name&gt; --json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omx team shutdown &lt;team-name&gt;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FD13A-126C-434F-B5F8-8F9A6F85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669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演示观察点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F6612-DB61-42E3-80D5-103E040A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42481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• Worker 是否收到不同、可独立的任务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• 是否完成 claim → in_progress → completed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• 是否在各自 worktree 产生可集成结果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• Leader 拿到测试证据，而不只是完成结论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9E153-424D-4CB5-A1EA-C52B95EA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72150"/>
            <a:ext cx="85725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EC687-141E-4867-94CC-20E8E86D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721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现场演示应预先选择可在数分钟内完成、文件所有权清晰的任务</a:t>
            </a:r>
          </a:p>
        </p:txBody>
      </p:sp>
    </p:spTree>
    <p:extLst>
      <p:ext uri="{BB962C8B-B14F-4D97-AF65-F5344CB8AC3E}">
        <p14:creationId xmlns:p14="http://schemas.microsoft.com/office/powerpoint/2010/main" val="434981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E91D1-D24F-44E4-A8C3-31C71805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OH-MY-CODEX / TECHNICAL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EFD02-8D8B-420A-B02E-4B4AE23A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安装成功，不等于真实执行链路已经可用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1DDEA-77F6-4233-876F-0584DE08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1BFE7-BE6E-4BBE-BAD8-C5190AB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BE85D-7099-4F70-9996-AD5E5B76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前置条件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497C4-F7E0-4754-8436-342436C3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44767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• Node.js ≥ 20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• Codex CLI 已安装并认证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• macOS / Linux 的 Team 推荐使用 tmux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• Native Windows 的 psmux Team 路径支持度较低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52394-4FBC-4281-9088-CB8B06AD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28800"/>
            <a:ext cx="6096000" cy="203835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7A6D9-3D78-431B-989F-3832A166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2880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35F0E-E46C-444A-9039-729E03DC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00250"/>
            <a:ext cx="56769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npm install -g oh-my-codex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omx setup --scope project --merge-agents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omx doctor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09A5D-DD7B-4B34-8A0A-293A1A52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10050"/>
            <a:ext cx="609600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C28CB-B3C0-4763-9270-4DF89003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196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A86800"/>
                </a:solidFill>
                <a:latin typeface="SF Mono"/>
                <a:ea typeface="SF Mono"/>
                <a:cs typeface="SF Mono"/>
              </a:defRPr>
            </a:pPr>
            <a:r>
              <a:rPr sz="2100" b="1">
                <a:solidFill>
                  <a:srgbClr val="A86800"/>
                </a:solidFill>
                <a:latin typeface="SF Mono"/>
                <a:ea typeface="SF Mono"/>
                <a:cs typeface="SF Mono"/>
              </a:rPr>
              <a:t>doctor green ≠ model-call proven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0499C-C75C-4082-955B-276E0DF8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958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仍需真实 Codex 请求验证认证、profile 与 provider/base URL 链路。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0BDAB-FA2B-4156-86C0-4F3B2720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本机：oh-my-codex v0.20.2 · Node.js v22.22.0 · tmux 3.6b</a:t>
            </a:r>
          </a:p>
        </p:txBody>
      </p:sp>
    </p:spTree>
    <p:extLst>
      <p:ext uri="{BB962C8B-B14F-4D97-AF65-F5344CB8AC3E}">
        <p14:creationId xmlns:p14="http://schemas.microsoft.com/office/powerpoint/2010/main" val="18164098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A2B8A-E20E-44BB-A466-B582BA9F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OH-MY-CODEX / TECHNICAL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20C19-7188-4B4D-86F2-BF133652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第一次使用，先跑一条最短的可信闭环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27D5F-2EF9-49A9-9D0E-1C19578C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562A4-7744-4E45-BA4B-445E9953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15DE3-DD23-405D-97E8-5BE11B96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238125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F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E8B12-0C70-454C-BB9E-32BA80D3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SHELL / LAUNCH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132C0-B32A-42DF-8169-4F3B1E70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5334000" cy="3048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E0604-D1DC-4224-8A3D-FBDAF24A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0DF92-FA5C-49F2-AAE3-8EF813AE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49149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codex --version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omx doctor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omx exec --skip-git-repo-check -C . \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  "Reply with exactly OMX-EXEC-OK"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omx --worktree=feat/demo --xhigh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B5615-18C0-466D-A5BC-640B27A9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09950"/>
            <a:ext cx="7620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D5ACF-D5B2-4C87-BD2F-B02DBA1E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28575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82387-8821-4EDD-AAC0-123814D7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8A5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8A5A"/>
                </a:solidFill>
                <a:latin typeface="PingFang SC"/>
                <a:ea typeface="PingFang SC"/>
                <a:cs typeface="PingFang SC"/>
              </a:rPr>
              <a:t>CODEX CONVERSATION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D14FB-2980-4D0F-84D5-D6AEEB72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648200" cy="3048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AF06E-9CC9-4827-A4C0-E3C78337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D88DF-6356-4865-8F1C-B60A74B1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19350"/>
            <a:ext cx="42291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$deep-interview "澄清认证改造范围与验收"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$ralplan "评审认证改造方案与风险"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4F7FA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4F7FA"/>
                </a:solidFill>
                <a:latin typeface="SF Mono"/>
                <a:ea typeface="SF Mono"/>
                <a:cs typeface="SF Mono"/>
              </a:rPr>
              <a:t>$ultragoal "按批准方案完成实现和验证"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E8973-1ECE-41C8-B542-6E06124C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验收闭环：边界清楚 → 计划获批 → 代码与测试证据齐全 → 未完成项显式记录</a:t>
            </a:r>
          </a:p>
        </p:txBody>
      </p:sp>
    </p:spTree>
    <p:extLst>
      <p:ext uri="{BB962C8B-B14F-4D97-AF65-F5344CB8AC3E}">
        <p14:creationId xmlns:p14="http://schemas.microsoft.com/office/powerpoint/2010/main" val="11946087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B43489-9582-4E6D-9A34-3C8E9E74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OH-MY-CODEX / TECHNICAL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907EC-AB0F-4B25-B4C9-632EF121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OMX 的核心收益，是可重复的工程纪律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50BDC-B56C-4E64-8DCE-2DA1439D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2C5CE-D186-48F0-8F59-FA8F68DB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E6110-9F92-46EC-A32E-5110E489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BE065-F807-4D23-B159-F7A0B642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00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D322B-464A-4265-AFB3-7ADB6CBB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一致性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E5E9F-A788-47D8-B450-60724ADF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AGENTS 与 Skills 把团队规则带入每次任务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7D4A7-9336-468E-9FE2-A80E8E37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97695-0BE9-4349-AAFB-D0A57CBC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526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可追踪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77FC3-9974-4C4F-8E2E-FE8F5217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14750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计划、目标、状态、交接与证据有明确位置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A214F-13B5-4F03-AEF6-0FD51ECA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00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7AC18-5128-468F-8792-7E682B86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526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A70BF-D2F9-4C36-9D49-FE1A6E57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14750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长任务围绕持久状态继续，而非只靠聊天记忆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094A9-A2B0-4A7E-BC03-E0CA4847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0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1B4EB-10E8-45E8-BF28-CE661E29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可扩展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AA700-EFD4-43B2-A8A1-1FC37F93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14750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同一工作方式从单 Agent 扩展到 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57BB8-D5FF-4982-B3AA-17C37E7E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000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147478-5E1D-4CDF-A7B6-0A780DFE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526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可审查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3D05A-7546-4826-9323-B7C5D74A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14750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完成声明必须由新鲜测试或诊断证据支撑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3A6785-454A-4E9F-9A95-ECBBDB57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8763000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F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1255A4-A854-40CE-B45D-D70CF8AF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收益首先体现在过程质量与可验证性，而不是承诺固定倍数的速度提升</a:t>
            </a:r>
          </a:p>
        </p:txBody>
      </p:sp>
    </p:spTree>
    <p:extLst>
      <p:ext uri="{BB962C8B-B14F-4D97-AF65-F5344CB8AC3E}">
        <p14:creationId xmlns:p14="http://schemas.microsoft.com/office/powerpoint/2010/main" val="1312494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B904B4-4F36-4987-9F03-2E9C6219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OH-MY-CODEX / TECHNICAL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7F3E9-914E-4B21-AAE2-D4F676A9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边界讲清楚，才能正确使用 OMX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C39B3-BD2B-4A93-8BF6-1AE83D8C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B8C6F-00C0-46EE-9163-A4EEFBC3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A1591-FCDC-48F3-AB32-0FD4C94D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3638550" cy="39052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DE8FF-45EC-4BC9-8D21-4C6823C6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36385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7A31B-8AA2-4810-B96E-883305F4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B8A5A"/>
                </a:solidFill>
                <a:latin typeface="SF Mono"/>
                <a:ea typeface="SF Mono"/>
                <a:cs typeface="SF Mono"/>
              </a:defRPr>
            </a:pPr>
            <a:r>
              <a:rPr sz="1650" b="1">
                <a:solidFill>
                  <a:srgbClr val="1B8A5A"/>
                </a:solidFill>
                <a:latin typeface="SF Mono"/>
                <a:ea typeface="SF Mono"/>
                <a:cs typeface="SF Mono"/>
              </a:rPr>
              <a:t>CURRENT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D64BC-6143-40D4-82D6-DBA8D9DF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文件/CLI-first 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52FD1-5815-4B5C-A3CB-C3740821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73574-A704-4FCE-A57E-25E675E7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Skills 与 native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C44D9-6C9B-4033-B042-46F2E552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F69B5-47A7-484F-9D24-59FF475E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Team 自动独立 worktree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A947C-6788-4972-91E5-77F91745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71650"/>
            <a:ext cx="3638550" cy="39052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41ABD-823C-4C2E-8145-6BE6BBE5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71650"/>
            <a:ext cx="36385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F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AC8FB-02B6-42C1-A6D1-E765F54B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D8DFF"/>
                </a:solidFill>
                <a:latin typeface="SF Mono"/>
                <a:ea typeface="SF Mono"/>
                <a:cs typeface="SF Mono"/>
              </a:defRPr>
            </a:pPr>
            <a:r>
              <a:rPr sz="1650" b="1">
                <a:solidFill>
                  <a:srgbClr val="3D8DFF"/>
                </a:solidFill>
                <a:latin typeface="SF Mono"/>
                <a:ea typeface="SF Mono"/>
                <a:cs typeface="SF Mono"/>
              </a:rPr>
              <a:t>OPTIONAL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375E0-3F6F-4BC2-BE39-833D33C2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MCP compatibility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331C4-92A9-4320-B147-7F51F8E2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956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64D80-6F9A-43C4-8597-FC7F52FE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已有 CodeGraph 数据库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321BEF-8DC8-460D-9E03-AF6FAB37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338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FEFB8-927B-471D-9CCD-C1B3D8E9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577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Codex / Claude worker routing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68AD7C-607A-47E7-A96C-9E15C85D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71650"/>
            <a:ext cx="3638550" cy="39052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799277-D3EA-4081-855F-8D1541D6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71650"/>
            <a:ext cx="36385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2A2882-DA91-49E0-8941-8DE5EE82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A86800"/>
                </a:solidFill>
                <a:latin typeface="SF Mono"/>
                <a:ea typeface="SF Mono"/>
                <a:cs typeface="SF Mono"/>
              </a:defRPr>
            </a:pPr>
            <a:r>
              <a:rPr sz="1650" b="1">
                <a:solidFill>
                  <a:srgbClr val="A86800"/>
                </a:solidFill>
                <a:latin typeface="SF Mono"/>
                <a:ea typeface="SF Mono"/>
                <a:cs typeface="SF Mono"/>
              </a:rPr>
              <a:t>NOT GUARANTEED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2BB2F8-27B8-40FC-9345-85F01A86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自动全量代码建图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B9779F-489C-4F43-ACEF-07FA2D82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956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9864A5-FB0D-42DC-965E-D2AB4107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195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永不冲突自动合并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61C34B-C0DD-42FD-81C9-69F1E9FC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338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35FF01-7516-42AA-B4DF-BC40148B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577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业务级审计回滚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6A5F81-0E31-4F12-91D4-BD94BED7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245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数量、命令与默认行为会随版本变化；分享时必须注明事实基线。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D71C0D-97D2-4915-A69D-6E4D10FE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校准来源：v0.20.2 README、package.json、omx --help、omx team --help</a:t>
            </a:r>
          </a:p>
        </p:txBody>
      </p:sp>
    </p:spTree>
    <p:extLst>
      <p:ext uri="{BB962C8B-B14F-4D97-AF65-F5344CB8AC3E}">
        <p14:creationId xmlns:p14="http://schemas.microsoft.com/office/powerpoint/2010/main" val="17109834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900530-089B-44AE-AB1B-482CC1CA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OH-MY-CODEX / TECHNICAL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947B8-D824-48F8-B1B5-91F96991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9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不同工具解决不同层：不要把编排、IDE 与 Agent CLI 混为一类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1E9B1-9DCB-489F-BA7D-6220AD4D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B7669-D47A-4935-AF01-A247B984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BB794-8917-4E46-94AF-98715A97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647950" cy="3638550"/>
          </a:xfrm>
          <a:prstGeom xmlns:a="http://schemas.openxmlformats.org/drawingml/2006/main" prst="roundRect">
            <a:avLst>
              <a:gd name="adj" fmla="val 143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B0581-92F0-492D-BB40-10189D0E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Plain Codex CLI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48885-B259-4F61-9A79-B74D83B9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直接 Agent 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6F223-43D5-4940-B6E8-4850F129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07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8D688-446C-4607-B838-74434889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2152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附加结构最少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适合边界清楚、单次可完成的任务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78ABA-F5FA-4979-88F9-82344B88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809750"/>
            <a:ext cx="2647950" cy="3638550"/>
          </a:xfrm>
          <a:prstGeom xmlns:a="http://schemas.openxmlformats.org/drawingml/2006/main" prst="roundRect">
            <a:avLst>
              <a:gd name="adj" fmla="val 1439"/>
            </a:avLst>
          </a:prstGeom>
          <a:solidFill xmlns:a="http://schemas.openxmlformats.org/drawingml/2006/main">
            <a:srgbClr val="DF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589F6-7A7F-4DEC-AD26-446BC0C1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145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OMX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FFD26-2AC5-4DAD-BB34-753D77CA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9908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Codex 编排与运行层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3CE52-5C42-4E8A-AA6E-965DFAB1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95700"/>
            <a:ext cx="207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16FDF-5B09-46F9-9F42-FEEC3056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81450"/>
            <a:ext cx="2152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强调可复用 Workflow、持久状态、Team runtime 与验证纪律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5DAF5-B631-4EA3-87FA-1D82F6CF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647950" cy="3638550"/>
          </a:xfrm>
          <a:prstGeom xmlns:a="http://schemas.openxmlformats.org/drawingml/2006/main" prst="roundRect">
            <a:avLst>
              <a:gd name="adj" fmla="val 143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844FD-8B5F-4C58-B807-14D37A9E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Cursor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5B2C4-8A35-4513-9441-18CD9BA1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IDE 中心的交互开发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9028C3-5C52-4E7C-9F38-3BBC110A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207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DF9D4-AB12-4FD8-A088-502C6630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81450"/>
            <a:ext cx="2152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强调编辑器内上下文、交互式修改与 IDE 工作流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1BD46-9A46-49E0-A596-D7273182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647950" cy="3638550"/>
          </a:xfrm>
          <a:prstGeom xmlns:a="http://schemas.openxmlformats.org/drawingml/2006/main" prst="roundRect">
            <a:avLst>
              <a:gd name="adj" fmla="val 143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71F275-789C-48A5-A3E0-E67200A6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145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Claude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32148-31A0-4D58-970C-E38CAAB4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908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另一套 Agent CLI / 生态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6CD8D7-B337-491A-B1C7-BDA08404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695700"/>
            <a:ext cx="207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F921E2-8E27-4BD0-AAE7-48C8CD19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81450"/>
            <a:ext cx="2152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强调 Claude 模型与其工具运行时；可与 OMX 的顾问/Worker 配置形成组合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964726-5B2B-46A9-ABF7-2B459030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829300"/>
            <a:ext cx="84963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34CDB8-4449-4EB2-A3DF-4A9B1F4D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829300"/>
            <a:ext cx="849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这是任务适配矩阵，不是产品优劣排名；具体功能会随版本持续变化</a:t>
            </a:r>
          </a:p>
        </p:txBody>
      </p:sp>
    </p:spTree>
    <p:extLst>
      <p:ext uri="{BB962C8B-B14F-4D97-AF65-F5344CB8AC3E}">
        <p14:creationId xmlns:p14="http://schemas.microsoft.com/office/powerpoint/2010/main" val="17010319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B50E6-18DE-4AAB-A140-A6534962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ADOPTION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48055-B362-4D1F-8B2D-EEBAB284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933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用一个真实任务验证 OMX，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而不是先全面推广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19E4E-869B-4D90-A9CD-03A59E27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SF Mono"/>
                <a:ea typeface="SF Mono"/>
                <a:cs typeface="SF Mono"/>
              </a:defRPr>
            </a:pPr>
            <a:r>
              <a:rPr sz="1275" b="1">
                <a:solidFill>
                  <a:srgbClr val="3D8DFF"/>
                </a:solidFill>
                <a:latin typeface="SF Mono"/>
                <a:ea typeface="SF Mono"/>
                <a:cs typeface="SF Mon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88AF9-E0CC-4654-8297-07D33BB7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选择边界明确、包含实现与测试、可拆为 2–3 条独立工作线的任务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0FCC8-92A8-42E3-B6F2-62D34FE2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5282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7A924-CB0C-40E0-B7C2-805F75F0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86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SF Mono"/>
                <a:ea typeface="SF Mono"/>
                <a:cs typeface="SF Mono"/>
              </a:defRPr>
            </a:pPr>
            <a:r>
              <a:rPr sz="1275" b="1">
                <a:solidFill>
                  <a:srgbClr val="3D8DFF"/>
                </a:solidFill>
                <a:latin typeface="SF Mono"/>
                <a:ea typeface="SF Mono"/>
                <a:cs typeface="SF Mon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A079F-C68C-4A33-ACA8-FFF1CDE1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671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先用 $deep-interview → $ralplan → $ultragoal 建立单线闭环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4D5C7-CECD-4CD6-A761-BD53C7D0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D6861-78F9-4318-ABD9-83CB6F57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SF Mono"/>
                <a:ea typeface="SF Mono"/>
                <a:cs typeface="SF Mono"/>
              </a:defRPr>
            </a:pPr>
            <a:r>
              <a:rPr sz="1275" b="1">
                <a:solidFill>
                  <a:srgbClr val="3D8DFF"/>
                </a:solidFill>
                <a:latin typeface="SF Mono"/>
                <a:ea typeface="SF Mono"/>
                <a:cs typeface="SF Mon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6D521-6929-4D0F-B6FF-4FEA0BDC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只有并行收益明确时，再引入 $team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71732-67C1-4739-9215-1CC689C0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3867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42BE0-B0E5-41C5-A054-5998F224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720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SF Mono"/>
                <a:ea typeface="SF Mono"/>
                <a:cs typeface="SF Mono"/>
              </a:defRPr>
            </a:pPr>
            <a:r>
              <a:rPr sz="1275" b="1">
                <a:solidFill>
                  <a:srgbClr val="3D8DFF"/>
                </a:solidFill>
                <a:latin typeface="SF Mono"/>
                <a:ea typeface="SF Mono"/>
                <a:cs typeface="SF Mono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D66FF-7FCC-4BD9-9976-5D4F1C18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529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记录交付周期、返工、测试缺口、集成冲突四类证据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4C3AA-C3C0-417B-956E-4A5B6E7D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C0548-1F66-44AC-AD20-603C59B4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SF Mono"/>
                <a:ea typeface="SF Mono"/>
                <a:cs typeface="SF Mono"/>
              </a:defRPr>
            </a:pPr>
            <a:r>
              <a:rPr sz="1275" b="1">
                <a:solidFill>
                  <a:srgbClr val="3D8DFF"/>
                </a:solidFill>
                <a:latin typeface="SF Mono"/>
                <a:ea typeface="SF Mono"/>
                <a:cs typeface="SF Mono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CB960-BFF3-43F4-A3E9-D6FF48DD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959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根据证据固化真正有价值的 AGENTS 规则与 Skills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28156-1089-42E6-82F5-F615855C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2452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1F54E-8740-4D0D-BF28-1A658094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OMX 的目标不是让流程更重，而是让复杂任务的边界、状态和完成证据更清楚。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6E34F-2928-471A-BFB4-312A7FD7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293267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2026-07-16T07:01:10.5370000Z</dcterms:created>
  <dcterms:modified xsi:type="dcterms:W3CDTF">2026-07-16T07:01:10.5380000Z</dcterms:modified>
</coreProperties>
</file>